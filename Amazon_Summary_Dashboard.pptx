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3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FD7276-BA1B-4317-A68A-67E135F3CDAE}" v="86" dt="2025-12-31T12:41:45.1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7956" autoAdjust="0"/>
  </p:normalViewPr>
  <p:slideViewPr>
    <p:cSldViewPr snapToGrid="0" snapToObjects="1">
      <p:cViewPr varScale="1">
        <p:scale>
          <a:sx n="65" d="100"/>
          <a:sy n="65" d="100"/>
        </p:scale>
        <p:origin x="616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rat Saxena" userId="5451759ba3852fd6" providerId="LiveId" clId="{6B6CEB00-8117-44A3-8D0B-47D3FF6B29A3}"/>
    <pc:docChg chg="undo custSel addSld delSld modSld">
      <pc:chgData name="Samrat Saxena" userId="5451759ba3852fd6" providerId="LiveId" clId="{6B6CEB00-8117-44A3-8D0B-47D3FF6B29A3}" dt="2026-01-03T09:41:58.262" v="2682" actId="20577"/>
      <pc:docMkLst>
        <pc:docMk/>
      </pc:docMkLst>
      <pc:sldChg chg="modSp mod">
        <pc:chgData name="Samrat Saxena" userId="5451759ba3852fd6" providerId="LiveId" clId="{6B6CEB00-8117-44A3-8D0B-47D3FF6B29A3}" dt="2026-01-03T09:41:58.262" v="2682" actId="20577"/>
        <pc:sldMkLst>
          <pc:docMk/>
          <pc:sldMk cId="0" sldId="256"/>
        </pc:sldMkLst>
        <pc:spChg chg="mod">
          <ac:chgData name="Samrat Saxena" userId="5451759ba3852fd6" providerId="LiveId" clId="{6B6CEB00-8117-44A3-8D0B-47D3FF6B29A3}" dt="2026-01-03T09:41:58.262" v="2682" actId="20577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Samrat Saxena" userId="5451759ba3852fd6" providerId="LiveId" clId="{6B6CEB00-8117-44A3-8D0B-47D3FF6B29A3}" dt="2025-12-31T12:35:56.180" v="2537" actId="255"/>
        <pc:sldMkLst>
          <pc:docMk/>
          <pc:sldMk cId="0" sldId="257"/>
        </pc:sldMkLst>
        <pc:spChg chg="mod">
          <ac:chgData name="Samrat Saxena" userId="5451759ba3852fd6" providerId="LiveId" clId="{6B6CEB00-8117-44A3-8D0B-47D3FF6B29A3}" dt="2025-12-31T12:35:56.180" v="2537" actId="255"/>
          <ac:spMkLst>
            <pc:docMk/>
            <pc:sldMk cId="0" sldId="257"/>
            <ac:spMk id="2" creationId="{00000000-0000-0000-0000-000000000000}"/>
          </ac:spMkLst>
        </pc:spChg>
        <pc:spChg chg="mod">
          <ac:chgData name="Samrat Saxena" userId="5451759ba3852fd6" providerId="LiveId" clId="{6B6CEB00-8117-44A3-8D0B-47D3FF6B29A3}" dt="2025-12-31T12:22:45.125" v="1826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Samrat Saxena" userId="5451759ba3852fd6" providerId="LiveId" clId="{6B6CEB00-8117-44A3-8D0B-47D3FF6B29A3}" dt="2025-12-31T12:38:13.379" v="2549" actId="1076"/>
        <pc:sldMkLst>
          <pc:docMk/>
          <pc:sldMk cId="3997247247" sldId="258"/>
        </pc:sldMkLst>
        <pc:spChg chg="mod">
          <ac:chgData name="Samrat Saxena" userId="5451759ba3852fd6" providerId="LiveId" clId="{6B6CEB00-8117-44A3-8D0B-47D3FF6B29A3}" dt="2025-12-31T12:37:59.997" v="2547" actId="255"/>
          <ac:spMkLst>
            <pc:docMk/>
            <pc:sldMk cId="3997247247" sldId="258"/>
            <ac:spMk id="2" creationId="{33FD0075-14FE-5BFE-03EC-C190D176EFF8}"/>
          </ac:spMkLst>
        </pc:spChg>
        <pc:spChg chg="add mod">
          <ac:chgData name="Samrat Saxena" userId="5451759ba3852fd6" providerId="LiveId" clId="{6B6CEB00-8117-44A3-8D0B-47D3FF6B29A3}" dt="2025-12-31T12:13:26.953" v="1261" actId="255"/>
          <ac:spMkLst>
            <pc:docMk/>
            <pc:sldMk cId="3997247247" sldId="258"/>
            <ac:spMk id="4" creationId="{4BAB4725-8B3E-FD5C-9558-856BCE7E09D2}"/>
          </ac:spMkLst>
        </pc:spChg>
        <pc:spChg chg="add mod">
          <ac:chgData name="Samrat Saxena" userId="5451759ba3852fd6" providerId="LiveId" clId="{6B6CEB00-8117-44A3-8D0B-47D3FF6B29A3}" dt="2025-12-31T12:38:08.600" v="2548" actId="1076"/>
          <ac:spMkLst>
            <pc:docMk/>
            <pc:sldMk cId="3997247247" sldId="258"/>
            <ac:spMk id="6" creationId="{7B01DE33-C787-0289-5ECC-D45FB93F38F8}"/>
          </ac:spMkLst>
        </pc:spChg>
        <pc:graphicFrameChg chg="add mod">
          <ac:chgData name="Samrat Saxena" userId="5451759ba3852fd6" providerId="LiveId" clId="{6B6CEB00-8117-44A3-8D0B-47D3FF6B29A3}" dt="2025-12-31T12:38:13.379" v="2549" actId="1076"/>
          <ac:graphicFrameMkLst>
            <pc:docMk/>
            <pc:sldMk cId="3997247247" sldId="258"/>
            <ac:graphicFrameMk id="7" creationId="{87E1D19B-36E2-FFD3-A063-E376F47402A4}"/>
          </ac:graphicFrameMkLst>
        </pc:graphicFrameChg>
      </pc:sldChg>
      <pc:sldChg chg="addSp delSp modSp mod">
        <pc:chgData name="Samrat Saxena" userId="5451759ba3852fd6" providerId="LiveId" clId="{6B6CEB00-8117-44A3-8D0B-47D3FF6B29A3}" dt="2025-12-31T12:37:48.269" v="2546" actId="255"/>
        <pc:sldMkLst>
          <pc:docMk/>
          <pc:sldMk cId="517574633" sldId="259"/>
        </pc:sldMkLst>
        <pc:spChg chg="mod">
          <ac:chgData name="Samrat Saxena" userId="5451759ba3852fd6" providerId="LiveId" clId="{6B6CEB00-8117-44A3-8D0B-47D3FF6B29A3}" dt="2025-12-31T12:37:48.269" v="2546" actId="255"/>
          <ac:spMkLst>
            <pc:docMk/>
            <pc:sldMk cId="517574633" sldId="259"/>
            <ac:spMk id="2" creationId="{E1529AE3-C6D1-C6E5-4817-6EEC6FB37A95}"/>
          </ac:spMkLst>
        </pc:spChg>
        <pc:spChg chg="add mod">
          <ac:chgData name="Samrat Saxena" userId="5451759ba3852fd6" providerId="LiveId" clId="{6B6CEB00-8117-44A3-8D0B-47D3FF6B29A3}" dt="2025-12-31T12:21:09.940" v="1812" actId="20577"/>
          <ac:spMkLst>
            <pc:docMk/>
            <pc:sldMk cId="517574633" sldId="259"/>
            <ac:spMk id="3" creationId="{2AE484B8-00B4-EAA4-C4FC-A41C85C0E55F}"/>
          </ac:spMkLst>
        </pc:spChg>
        <pc:spChg chg="add mod">
          <ac:chgData name="Samrat Saxena" userId="5451759ba3852fd6" providerId="LiveId" clId="{6B6CEB00-8117-44A3-8D0B-47D3FF6B29A3}" dt="2025-12-31T12:19:06.076" v="1566" actId="1076"/>
          <ac:spMkLst>
            <pc:docMk/>
            <pc:sldMk cId="517574633" sldId="259"/>
            <ac:spMk id="5" creationId="{31C73AFB-86B9-3EB9-7C65-1872D1671072}"/>
          </ac:spMkLst>
        </pc:spChg>
        <pc:graphicFrameChg chg="add mod">
          <ac:chgData name="Samrat Saxena" userId="5451759ba3852fd6" providerId="LiveId" clId="{6B6CEB00-8117-44A3-8D0B-47D3FF6B29A3}" dt="2025-12-31T12:21:36.005" v="1820" actId="1076"/>
          <ac:graphicFrameMkLst>
            <pc:docMk/>
            <pc:sldMk cId="517574633" sldId="259"/>
            <ac:graphicFrameMk id="4" creationId="{6D19CAE8-D66C-0344-B910-74767A027254}"/>
          </ac:graphicFrameMkLst>
        </pc:graphicFrameChg>
      </pc:sldChg>
      <pc:sldChg chg="addSp delSp modSp mod">
        <pc:chgData name="Samrat Saxena" userId="5451759ba3852fd6" providerId="LiveId" clId="{6B6CEB00-8117-44A3-8D0B-47D3FF6B29A3}" dt="2025-12-31T12:38:53.970" v="2551" actId="255"/>
        <pc:sldMkLst>
          <pc:docMk/>
          <pc:sldMk cId="1130218606" sldId="260"/>
        </pc:sldMkLst>
        <pc:spChg chg="mod">
          <ac:chgData name="Samrat Saxena" userId="5451759ba3852fd6" providerId="LiveId" clId="{6B6CEB00-8117-44A3-8D0B-47D3FF6B29A3}" dt="2025-12-31T12:38:40.499" v="2550" actId="255"/>
          <ac:spMkLst>
            <pc:docMk/>
            <pc:sldMk cId="1130218606" sldId="260"/>
            <ac:spMk id="2" creationId="{811F05B7-7C48-3AC9-3F48-EB1B3241833C}"/>
          </ac:spMkLst>
        </pc:spChg>
        <pc:spChg chg="add mod">
          <ac:chgData name="Samrat Saxena" userId="5451759ba3852fd6" providerId="LiveId" clId="{6B6CEB00-8117-44A3-8D0B-47D3FF6B29A3}" dt="2025-12-31T12:38:53.970" v="2551" actId="255"/>
          <ac:spMkLst>
            <pc:docMk/>
            <pc:sldMk cId="1130218606" sldId="260"/>
            <ac:spMk id="3" creationId="{644946A3-3CD7-4E5D-778E-804C81A3D618}"/>
          </ac:spMkLst>
        </pc:spChg>
        <pc:graphicFrameChg chg="add mod">
          <ac:chgData name="Samrat Saxena" userId="5451759ba3852fd6" providerId="LiveId" clId="{6B6CEB00-8117-44A3-8D0B-47D3FF6B29A3}" dt="2025-12-31T12:26:47.043" v="2068" actId="14100"/>
          <ac:graphicFrameMkLst>
            <pc:docMk/>
            <pc:sldMk cId="1130218606" sldId="260"/>
            <ac:graphicFrameMk id="4" creationId="{D1FA3746-9127-FC20-C843-8E54B57676A7}"/>
          </ac:graphicFrameMkLst>
        </pc:graphicFrameChg>
      </pc:sldChg>
      <pc:sldChg chg="addSp delSp modSp mod">
        <pc:chgData name="Samrat Saxena" userId="5451759ba3852fd6" providerId="LiveId" clId="{6B6CEB00-8117-44A3-8D0B-47D3FF6B29A3}" dt="2025-12-31T12:39:44.036" v="2557" actId="27309"/>
        <pc:sldMkLst>
          <pc:docMk/>
          <pc:sldMk cId="2533822955" sldId="261"/>
        </pc:sldMkLst>
        <pc:spChg chg="mod">
          <ac:chgData name="Samrat Saxena" userId="5451759ba3852fd6" providerId="LiveId" clId="{6B6CEB00-8117-44A3-8D0B-47D3FF6B29A3}" dt="2025-12-31T12:39:05.730" v="2552" actId="255"/>
          <ac:spMkLst>
            <pc:docMk/>
            <pc:sldMk cId="2533822955" sldId="261"/>
            <ac:spMk id="2" creationId="{3AF3E1B2-7404-8C14-5E10-5B5139A5C9A9}"/>
          </ac:spMkLst>
        </pc:spChg>
        <pc:spChg chg="add mod">
          <ac:chgData name="Samrat Saxena" userId="5451759ba3852fd6" providerId="LiveId" clId="{6B6CEB00-8117-44A3-8D0B-47D3FF6B29A3}" dt="2025-12-31T12:39:14.668" v="2553" actId="255"/>
          <ac:spMkLst>
            <pc:docMk/>
            <pc:sldMk cId="2533822955" sldId="261"/>
            <ac:spMk id="6" creationId="{31CBD3CB-A136-F354-3C89-2AF81F21F0CF}"/>
          </ac:spMkLst>
        </pc:spChg>
        <pc:graphicFrameChg chg="add mod">
          <ac:chgData name="Samrat Saxena" userId="5451759ba3852fd6" providerId="LiveId" clId="{6B6CEB00-8117-44A3-8D0B-47D3FF6B29A3}" dt="2025-12-31T12:30:36.453" v="2293" actId="1076"/>
          <ac:graphicFrameMkLst>
            <pc:docMk/>
            <pc:sldMk cId="2533822955" sldId="261"/>
            <ac:graphicFrameMk id="7" creationId="{0495AF97-4123-5F9C-C592-0AF4E6E6F93C}"/>
          </ac:graphicFrameMkLst>
        </pc:graphicFrameChg>
      </pc:sldChg>
      <pc:sldChg chg="addSp delSp modSp new mod">
        <pc:chgData name="Samrat Saxena" userId="5451759ba3852fd6" providerId="LiveId" clId="{6B6CEB00-8117-44A3-8D0B-47D3FF6B29A3}" dt="2025-12-31T12:39:59.025" v="2558" actId="13926"/>
        <pc:sldMkLst>
          <pc:docMk/>
          <pc:sldMk cId="809688818" sldId="262"/>
        </pc:sldMkLst>
        <pc:spChg chg="mod">
          <ac:chgData name="Samrat Saxena" userId="5451759ba3852fd6" providerId="LiveId" clId="{6B6CEB00-8117-44A3-8D0B-47D3FF6B29A3}" dt="2025-12-31T12:39:59.025" v="2558" actId="13926"/>
          <ac:spMkLst>
            <pc:docMk/>
            <pc:sldMk cId="809688818" sldId="262"/>
            <ac:spMk id="2" creationId="{2056DAAE-B824-1D17-014C-6C1D30F62210}"/>
          </ac:spMkLst>
        </pc:spChg>
        <pc:spChg chg="add mod">
          <ac:chgData name="Samrat Saxena" userId="5451759ba3852fd6" providerId="LiveId" clId="{6B6CEB00-8117-44A3-8D0B-47D3FF6B29A3}" dt="2025-12-31T12:39:33.060" v="2555" actId="255"/>
          <ac:spMkLst>
            <pc:docMk/>
            <pc:sldMk cId="809688818" sldId="262"/>
            <ac:spMk id="4" creationId="{442010D5-0CB1-8E43-B1FC-F2AFB381F77B}"/>
          </ac:spMkLst>
        </pc:spChg>
        <pc:graphicFrameChg chg="add mod">
          <ac:chgData name="Samrat Saxena" userId="5451759ba3852fd6" providerId="LiveId" clId="{6B6CEB00-8117-44A3-8D0B-47D3FF6B29A3}" dt="2025-12-31T12:34:37.712" v="2536" actId="1076"/>
          <ac:graphicFrameMkLst>
            <pc:docMk/>
            <pc:sldMk cId="809688818" sldId="262"/>
            <ac:graphicFrameMk id="5" creationId="{DB908C50-0331-4308-C602-E797B23A3B4F}"/>
          </ac:graphicFrameMkLst>
        </pc:graphicFrameChg>
      </pc:sldChg>
      <pc:sldChg chg="delSp modSp new mod">
        <pc:chgData name="Samrat Saxena" userId="5451759ba3852fd6" providerId="LiveId" clId="{6B6CEB00-8117-44A3-8D0B-47D3FF6B29A3}" dt="2025-12-31T12:41:45.106" v="2638" actId="20577"/>
        <pc:sldMkLst>
          <pc:docMk/>
          <pc:sldMk cId="4268030957" sldId="263"/>
        </pc:sldMkLst>
        <pc:spChg chg="mod">
          <ac:chgData name="Samrat Saxena" userId="5451759ba3852fd6" providerId="LiveId" clId="{6B6CEB00-8117-44A3-8D0B-47D3FF6B29A3}" dt="2025-12-31T12:41:45.106" v="2638" actId="20577"/>
          <ac:spMkLst>
            <pc:docMk/>
            <pc:sldMk cId="4268030957" sldId="263"/>
            <ac:spMk id="3" creationId="{AB534772-2E0E-05C1-0CC6-2927AF56049C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451759ba3852fd6/Desktop/Amazo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451759ba3852fd6/Desktop/Amazo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451759ba3852fd6/Desktop/Amazon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451759ba3852fd6/Desktop/Amazon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451759ba3852fd6/Desktop/Amazon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[Amazon.xlsx]Amazon Summarization!PivotTable8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Product</a:t>
            </a:r>
            <a:r>
              <a:rPr lang="en-US" b="1" baseline="0" dirty="0"/>
              <a:t> Category/Name-Wise Units Sold</a:t>
            </a:r>
            <a:endParaRPr lang="en-US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'Amazon Summarization'!$B$6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'Amazon Summarization'!$A$7:$A$21</c:f>
              <c:multiLvlStrCache>
                <c:ptCount val="8"/>
                <c:lvl>
                  <c:pt idx="0">
                    <c:v>Kurta Set</c:v>
                  </c:pt>
                  <c:pt idx="1">
                    <c:v>Hoodie</c:v>
                  </c:pt>
                  <c:pt idx="2">
                    <c:v>Sweatshirt</c:v>
                  </c:pt>
                  <c:pt idx="3">
                    <c:v>Hanky Set</c:v>
                  </c:pt>
                  <c:pt idx="4">
                    <c:v>Lowers</c:v>
                  </c:pt>
                  <c:pt idx="5">
                    <c:v>Gym Sando</c:v>
                  </c:pt>
                  <c:pt idx="6">
                    <c:v>Polo T-Shirt</c:v>
                  </c:pt>
                  <c:pt idx="7">
                    <c:v>Round Neck T-Shirt</c:v>
                  </c:pt>
                </c:lvl>
                <c:lvl>
                  <c:pt idx="0">
                    <c:v>Ethnic Wear</c:v>
                  </c:pt>
                  <c:pt idx="1">
                    <c:v>Winter Wear</c:v>
                  </c:pt>
                  <c:pt idx="3">
                    <c:v>Hankerchief</c:v>
                  </c:pt>
                  <c:pt idx="4">
                    <c:v>Joggers</c:v>
                  </c:pt>
                  <c:pt idx="5">
                    <c:v>Gym Wear</c:v>
                  </c:pt>
                  <c:pt idx="6">
                    <c:v>Casual/Gym Wear</c:v>
                  </c:pt>
                </c:lvl>
              </c:multiLvlStrCache>
            </c:multiLvlStrRef>
          </c:cat>
          <c:val>
            <c:numRef>
              <c:f>'Amazon Summarization'!$B$7:$B$21</c:f>
              <c:numCache>
                <c:formatCode>General</c:formatCode>
                <c:ptCount val="8"/>
                <c:pt idx="0">
                  <c:v>48</c:v>
                </c:pt>
                <c:pt idx="1">
                  <c:v>36</c:v>
                </c:pt>
                <c:pt idx="2">
                  <c:v>10</c:v>
                </c:pt>
                <c:pt idx="3">
                  <c:v>25</c:v>
                </c:pt>
                <c:pt idx="4">
                  <c:v>21</c:v>
                </c:pt>
                <c:pt idx="5">
                  <c:v>21</c:v>
                </c:pt>
                <c:pt idx="6">
                  <c:v>5</c:v>
                </c:pt>
                <c:pt idx="7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BE-4C0E-A2F4-E93D910059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6143983"/>
        <c:axId val="1026141103"/>
      </c:barChart>
      <c:catAx>
        <c:axId val="10261439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6141103"/>
        <c:crosses val="autoZero"/>
        <c:auto val="1"/>
        <c:lblAlgn val="ctr"/>
        <c:lblOffset val="100"/>
        <c:noMultiLvlLbl val="0"/>
      </c:catAx>
      <c:valAx>
        <c:axId val="1026141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61439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[Amazon.xlsx]Amazon Summarization!PivotTable9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/>
              <a:t>Product Category/Name</a:t>
            </a:r>
            <a:r>
              <a:rPr lang="en-IN" b="1" baseline="0"/>
              <a:t>-Wise Revenue Generated</a:t>
            </a:r>
            <a:endParaRPr lang="en-IN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'Amazon Summarization'!$B$24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'Amazon Summarization'!$A$25:$A$39</c:f>
              <c:multiLvlStrCache>
                <c:ptCount val="8"/>
                <c:lvl>
                  <c:pt idx="0">
                    <c:v>Hoodie</c:v>
                  </c:pt>
                  <c:pt idx="1">
                    <c:v>Sweatshirt</c:v>
                  </c:pt>
                  <c:pt idx="2">
                    <c:v>Kurta Set</c:v>
                  </c:pt>
                  <c:pt idx="3">
                    <c:v>Lowers</c:v>
                  </c:pt>
                  <c:pt idx="4">
                    <c:v>Hanky Set</c:v>
                  </c:pt>
                  <c:pt idx="5">
                    <c:v>Polo T-Shirt</c:v>
                  </c:pt>
                  <c:pt idx="6">
                    <c:v>Round Neck T-Shirt</c:v>
                  </c:pt>
                  <c:pt idx="7">
                    <c:v>Gym Sando</c:v>
                  </c:pt>
                </c:lvl>
                <c:lvl>
                  <c:pt idx="0">
                    <c:v>Winter Wear</c:v>
                  </c:pt>
                  <c:pt idx="2">
                    <c:v>Ethnic Wear</c:v>
                  </c:pt>
                  <c:pt idx="3">
                    <c:v>Joggers</c:v>
                  </c:pt>
                  <c:pt idx="4">
                    <c:v>Hankerchief</c:v>
                  </c:pt>
                  <c:pt idx="5">
                    <c:v>Casual/Gym Wear</c:v>
                  </c:pt>
                  <c:pt idx="7">
                    <c:v>Gym Wear</c:v>
                  </c:pt>
                </c:lvl>
              </c:multiLvlStrCache>
            </c:multiLvlStrRef>
          </c:cat>
          <c:val>
            <c:numRef>
              <c:f>'Amazon Summarization'!$B$25:$B$39</c:f>
              <c:numCache>
                <c:formatCode>"₹"\ #,##0.00</c:formatCode>
                <c:ptCount val="8"/>
                <c:pt idx="0">
                  <c:v>5436750</c:v>
                </c:pt>
                <c:pt idx="1">
                  <c:v>1386900</c:v>
                </c:pt>
                <c:pt idx="2">
                  <c:v>5984700</c:v>
                </c:pt>
                <c:pt idx="3">
                  <c:v>2475750</c:v>
                </c:pt>
                <c:pt idx="4">
                  <c:v>1258320</c:v>
                </c:pt>
                <c:pt idx="5">
                  <c:v>378240</c:v>
                </c:pt>
                <c:pt idx="6">
                  <c:v>710320</c:v>
                </c:pt>
                <c:pt idx="7">
                  <c:v>1051155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50-404C-BC42-B21DC352CB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32592367"/>
        <c:axId val="232593807"/>
      </c:barChart>
      <c:catAx>
        <c:axId val="2325923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2593807"/>
        <c:crosses val="autoZero"/>
        <c:auto val="1"/>
        <c:lblAlgn val="ctr"/>
        <c:lblOffset val="100"/>
        <c:noMultiLvlLbl val="0"/>
      </c:catAx>
      <c:valAx>
        <c:axId val="2325938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₹&quot;\ 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25923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[Amazon.xlsx]Amazon Summarization!PivotTable10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Product Category/Name-Wise Profit</a:t>
            </a:r>
          </a:p>
        </c:rich>
      </c:tx>
      <c:layout>
        <c:manualLayout>
          <c:xMode val="edge"/>
          <c:yMode val="edge"/>
          <c:x val="0.18773109812886293"/>
          <c:y val="8.694225721784776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'Amazon Summarization'!$B$42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'Amazon Summarization'!$A$43:$A$57</c:f>
              <c:multiLvlStrCache>
                <c:ptCount val="8"/>
                <c:lvl>
                  <c:pt idx="0">
                    <c:v>Hoodie</c:v>
                  </c:pt>
                  <c:pt idx="1">
                    <c:v>Sweatshirt</c:v>
                  </c:pt>
                  <c:pt idx="2">
                    <c:v>Kurta Set</c:v>
                  </c:pt>
                  <c:pt idx="3">
                    <c:v>Polo T-Shirt</c:v>
                  </c:pt>
                  <c:pt idx="4">
                    <c:v>Round Neck T-Shirt</c:v>
                  </c:pt>
                  <c:pt idx="5">
                    <c:v>Lowers</c:v>
                  </c:pt>
                  <c:pt idx="6">
                    <c:v>Hanky Set</c:v>
                  </c:pt>
                  <c:pt idx="7">
                    <c:v>Gym Sando</c:v>
                  </c:pt>
                </c:lvl>
                <c:lvl>
                  <c:pt idx="0">
                    <c:v>Winter Wear</c:v>
                  </c:pt>
                  <c:pt idx="2">
                    <c:v>Ethnic Wear</c:v>
                  </c:pt>
                  <c:pt idx="3">
                    <c:v>Casual/Gym Wear</c:v>
                  </c:pt>
                  <c:pt idx="5">
                    <c:v>Joggers</c:v>
                  </c:pt>
                  <c:pt idx="6">
                    <c:v>Hankerchief</c:v>
                  </c:pt>
                  <c:pt idx="7">
                    <c:v>Gym Wear</c:v>
                  </c:pt>
                </c:lvl>
              </c:multiLvlStrCache>
            </c:multiLvlStrRef>
          </c:cat>
          <c:val>
            <c:numRef>
              <c:f>'Amazon Summarization'!$B$43:$B$57</c:f>
              <c:numCache>
                <c:formatCode>"₹"\ #,##0.00</c:formatCode>
                <c:ptCount val="8"/>
                <c:pt idx="0">
                  <c:v>14400</c:v>
                </c:pt>
                <c:pt idx="1">
                  <c:v>5500</c:v>
                </c:pt>
                <c:pt idx="2">
                  <c:v>8400</c:v>
                </c:pt>
                <c:pt idx="3">
                  <c:v>2125</c:v>
                </c:pt>
                <c:pt idx="4">
                  <c:v>3330</c:v>
                </c:pt>
                <c:pt idx="5">
                  <c:v>5250</c:v>
                </c:pt>
                <c:pt idx="6">
                  <c:v>5000</c:v>
                </c:pt>
                <c:pt idx="7">
                  <c:v>3780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37-4A54-AAB8-1BA76AD45D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26643759"/>
        <c:axId val="726650479"/>
      </c:barChart>
      <c:catAx>
        <c:axId val="7266437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6650479"/>
        <c:crosses val="autoZero"/>
        <c:auto val="1"/>
        <c:lblAlgn val="ctr"/>
        <c:lblOffset val="100"/>
        <c:noMultiLvlLbl val="0"/>
      </c:catAx>
      <c:valAx>
        <c:axId val="7266504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₹&quot;\ 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66437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[Amazon.xlsx]Amazon Summarization!PivotTable11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Region-Wise Units Sold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'Amazon Summarization'!$B$60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D2B-45C7-B851-EB97A7F9980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D2B-45C7-B851-EB97A7F9980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D2B-45C7-B851-EB97A7F9980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D2B-45C7-B851-EB97A7F9980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'Amazon Summarization'!$A$61:$A$65</c:f>
              <c:strCache>
                <c:ptCount val="4"/>
                <c:pt idx="0">
                  <c:v>West</c:v>
                </c:pt>
                <c:pt idx="1">
                  <c:v>South</c:v>
                </c:pt>
                <c:pt idx="2">
                  <c:v>North</c:v>
                </c:pt>
                <c:pt idx="3">
                  <c:v>East</c:v>
                </c:pt>
              </c:strCache>
            </c:strRef>
          </c:cat>
          <c:val>
            <c:numRef>
              <c:f>'Amazon Summarization'!$B$61:$B$65</c:f>
              <c:numCache>
                <c:formatCode>General</c:formatCode>
                <c:ptCount val="4"/>
                <c:pt idx="0">
                  <c:v>141</c:v>
                </c:pt>
                <c:pt idx="1">
                  <c:v>17</c:v>
                </c:pt>
                <c:pt idx="2">
                  <c:v>9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D2B-45C7-B851-EB97A7F998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[Amazon.xlsx]Amazon Summarization!PivotTable12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Region-Wise Revenue Generated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'Amazon Summarization'!$B$68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758-4754-BAE1-5A41F0338F6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758-4754-BAE1-5A41F0338F6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758-4754-BAE1-5A41F0338F6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758-4754-BAE1-5A41F0338F6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'Amazon Summarization'!$A$69:$A$73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'Amazon Summarization'!$B$69:$B$73</c:f>
              <c:numCache>
                <c:formatCode>"₹"\ #,##0.00</c:formatCode>
                <c:ptCount val="4"/>
                <c:pt idx="0">
                  <c:v>1010080</c:v>
                </c:pt>
                <c:pt idx="1">
                  <c:v>696210</c:v>
                </c:pt>
                <c:pt idx="2">
                  <c:v>1679150</c:v>
                </c:pt>
                <c:pt idx="3">
                  <c:v>15296695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758-4754-BAE1-5A41F0338F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39773F-FC83-4417-83FD-737061886F89}" type="datetimeFigureOut">
              <a:rPr lang="en-IN" smtClean="0"/>
              <a:t>03/01/2026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4BFB0C-1442-439A-A8A5-2FB7CC3D3E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046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BFB0C-1442-439A-A8A5-2FB7CC3D3ED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0098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307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206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516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589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062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722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200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01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370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701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3008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962943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1424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2262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708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004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454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2734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45" r:id="rId12"/>
    <p:sldLayoutId id="2147483846" r:id="rId13"/>
    <p:sldLayoutId id="2147483847" r:id="rId14"/>
    <p:sldLayoutId id="2147483848" r:id="rId15"/>
    <p:sldLayoutId id="2147483849" r:id="rId16"/>
    <p:sldLayoutId id="2147483850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mailto:samrat.saxena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516" y="2577575"/>
            <a:ext cx="6620968" cy="851425"/>
          </a:xfrm>
        </p:spPr>
        <p:txBody>
          <a:bodyPr/>
          <a:lstStyle/>
          <a:p>
            <a:r>
              <a:rPr sz="3200" b="1" dirty="0">
                <a:solidFill>
                  <a:schemeClr val="tx1"/>
                </a:solidFill>
                <a:highlight>
                  <a:srgbClr val="000080"/>
                </a:highlight>
              </a:rPr>
              <a:t>Amazon </a:t>
            </a:r>
            <a:r>
              <a:rPr lang="en-US" sz="3200" b="1" dirty="0">
                <a:solidFill>
                  <a:schemeClr val="tx1"/>
                </a:solidFill>
                <a:highlight>
                  <a:srgbClr val="000080"/>
                </a:highlight>
              </a:rPr>
              <a:t> </a:t>
            </a:r>
            <a:r>
              <a:rPr lang="en-US" sz="3200" b="1">
                <a:solidFill>
                  <a:schemeClr val="tx1"/>
                </a:solidFill>
                <a:highlight>
                  <a:srgbClr val="000080"/>
                </a:highlight>
              </a:rPr>
              <a:t>Summary Presentation</a:t>
            </a:r>
            <a:endParaRPr sz="3200" b="1" dirty="0">
              <a:solidFill>
                <a:schemeClr val="tx1"/>
              </a:solidFill>
              <a:highlight>
                <a:srgbClr val="00008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60119"/>
          </a:xfrm>
        </p:spPr>
        <p:txBody>
          <a:bodyPr/>
          <a:lstStyle/>
          <a:p>
            <a:r>
              <a:rPr sz="3200" dirty="0">
                <a:solidFill>
                  <a:schemeClr val="tx1"/>
                </a:solidFill>
                <a:highlight>
                  <a:srgbClr val="000080"/>
                </a:highlight>
              </a:rPr>
              <a:t>Dashboard Sections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328" y="1097280"/>
            <a:ext cx="8229600" cy="4525963"/>
          </a:xfrm>
        </p:spPr>
        <p:txBody>
          <a:bodyPr>
            <a:normAutofit/>
          </a:bodyPr>
          <a:lstStyle/>
          <a:p>
            <a:endParaRPr dirty="0"/>
          </a:p>
          <a:p>
            <a:r>
              <a:rPr dirty="0"/>
              <a:t>1. Product </a:t>
            </a:r>
            <a:r>
              <a:rPr lang="en-US" dirty="0"/>
              <a:t>Category/Name-</a:t>
            </a:r>
            <a:r>
              <a:rPr dirty="0"/>
              <a:t>Wise </a:t>
            </a:r>
            <a:r>
              <a:rPr lang="en-US" dirty="0"/>
              <a:t>Units Sold</a:t>
            </a:r>
            <a:endParaRPr dirty="0"/>
          </a:p>
          <a:p>
            <a:r>
              <a:rPr dirty="0"/>
              <a:t>2. Product Category</a:t>
            </a:r>
            <a:r>
              <a:rPr lang="en-US" dirty="0"/>
              <a:t>/Name</a:t>
            </a:r>
            <a:r>
              <a:rPr dirty="0"/>
              <a:t>-Wise Revenue</a:t>
            </a:r>
            <a:r>
              <a:rPr lang="en-US" dirty="0"/>
              <a:t> Generated</a:t>
            </a:r>
            <a:endParaRPr dirty="0"/>
          </a:p>
          <a:p>
            <a:r>
              <a:rPr lang="en-US" dirty="0"/>
              <a:t>3</a:t>
            </a:r>
            <a:r>
              <a:rPr dirty="0"/>
              <a:t>. </a:t>
            </a:r>
            <a:r>
              <a:rPr lang="en-US" dirty="0"/>
              <a:t>Product Category/Name-Wise Profit</a:t>
            </a:r>
            <a:endParaRPr dirty="0"/>
          </a:p>
          <a:p>
            <a:r>
              <a:rPr lang="en-IN" dirty="0"/>
              <a:t>4.Region-Wise Units Sold</a:t>
            </a:r>
            <a:endParaRPr dirty="0"/>
          </a:p>
          <a:p>
            <a:r>
              <a:rPr lang="en-US" dirty="0"/>
              <a:t>5</a:t>
            </a:r>
            <a:r>
              <a:rPr dirty="0"/>
              <a:t>.</a:t>
            </a:r>
            <a:r>
              <a:rPr lang="en-US" dirty="0"/>
              <a:t>Region-Wise Revenue Generated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D0075-14FE-5BFE-03EC-C190D176E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656" y="621792"/>
            <a:ext cx="8010144" cy="795846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tx1"/>
                </a:solidFill>
                <a:highlight>
                  <a:srgbClr val="000080"/>
                </a:highlight>
              </a:rPr>
              <a:t>1. Product Category/ Name-Wise-Units Sold</a:t>
            </a:r>
            <a:br>
              <a:rPr lang="en-US" sz="2400" dirty="0">
                <a:solidFill>
                  <a:schemeClr val="tx1"/>
                </a:solidFill>
                <a:highlight>
                  <a:srgbClr val="000080"/>
                </a:highlight>
              </a:rPr>
            </a:br>
            <a:br>
              <a:rPr lang="en-US" sz="2400" dirty="0">
                <a:solidFill>
                  <a:schemeClr val="tx1"/>
                </a:solidFill>
                <a:highlight>
                  <a:srgbClr val="000080"/>
                </a:highlight>
              </a:rPr>
            </a:br>
            <a:endParaRPr lang="en-IN" sz="2400" dirty="0">
              <a:solidFill>
                <a:schemeClr val="tx1"/>
              </a:solidFill>
              <a:highlight>
                <a:srgbClr val="000080"/>
              </a:highlight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B4725-8B3E-FD5C-9558-856BCE7E0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700" y="1103243"/>
            <a:ext cx="6711654" cy="51451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800" dirty="0"/>
          </a:p>
          <a:p>
            <a:pPr marL="0" indent="0">
              <a:buNone/>
            </a:pPr>
            <a:endParaRPr lang="en-IN" sz="8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B01DE33-C787-0289-5ECC-D45FB93F3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340422"/>
            <a:ext cx="8574717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Ethnic Wear – Kurta Set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48 units, showing strong festive demand.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Winter Wear – Hoodie (36), Sweatshirt (10)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46 units total, hoodie clearly leading.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Handkerchief – Hanky Set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25 units, steady essential purchase.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Joggers – Lowers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21 units, consistent comfort wear.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Gym Wear(Sando) – Gym Sando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21 units, fitness-focused demand.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Casual/Gym Wear – Round Neck T-Shirt (9), Polo T-Shirt (5)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14 units, round neck preferred.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Grand Total: 175 Units Sold.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7E1D19B-36E2-FFD3-A063-E376F47402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4115060"/>
              </p:ext>
            </p:extLst>
          </p:nvPr>
        </p:nvGraphicFramePr>
        <p:xfrm>
          <a:off x="178455" y="2954020"/>
          <a:ext cx="8010144" cy="2598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97247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29AE3-C6D1-C6E5-4817-6EEC6FB37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384366"/>
            <a:ext cx="8229600" cy="1143000"/>
          </a:xfrm>
        </p:spPr>
        <p:txBody>
          <a:bodyPr>
            <a:noAutofit/>
          </a:bodyPr>
          <a:lstStyle/>
          <a:p>
            <a:r>
              <a:rPr lang="en-IN" sz="2400" dirty="0">
                <a:solidFill>
                  <a:schemeClr val="tx1"/>
                </a:solidFill>
                <a:highlight>
                  <a:srgbClr val="000080"/>
                </a:highlight>
              </a:rPr>
              <a:t>2. Product Category/Name-Wise Revenue Generated</a:t>
            </a:r>
            <a:br>
              <a:rPr lang="en-IN" sz="3600" dirty="0">
                <a:solidFill>
                  <a:schemeClr val="tx1"/>
                </a:solidFill>
              </a:rPr>
            </a:b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C73AFB-86B9-3EB9-7C65-1872D1671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3314" y="4312649"/>
            <a:ext cx="6711654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1100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E484B8-00B4-EAA4-C4FC-A41C85C0E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614" y="1136340"/>
            <a:ext cx="9165458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Winter Wear – Hoodie (₹54.36L), Sweatshirt (₹13.86L)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₹68.23L total, hoodie dominates seasonal sales.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Ethnic Wear – Kurta Set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₹59.84L, strong festive and cultural demand.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Joggers – Lowers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₹24.75L, consistent comfort wear revenue.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Handkerchief – Hanky Set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₹12.58L, steady essentials segment.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Casual/Gym Wear – Round Neck T-Shirt (₹7.10L), Polo T-Shirt (₹3.78L)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₹10.88L total, round neck preferred.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Gym Wear(Sando)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₹10.51L, fitness-focused traction.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Total Revenue: ₹1.86 Crore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4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D19CAE8-D66C-0344-B910-74767A0272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63522485"/>
              </p:ext>
            </p:extLst>
          </p:nvPr>
        </p:nvGraphicFramePr>
        <p:xfrm>
          <a:off x="255380" y="2650536"/>
          <a:ext cx="7695924" cy="3324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17574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F05B7-7C48-3AC9-3F48-EB1B32418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solidFill>
                  <a:schemeClr val="tx1"/>
                </a:solidFill>
                <a:highlight>
                  <a:srgbClr val="000080"/>
                </a:highlight>
              </a:rPr>
              <a:t>3</a:t>
            </a:r>
            <a:r>
              <a:rPr lang="en-IN" sz="2400" dirty="0">
                <a:highlight>
                  <a:srgbClr val="000080"/>
                </a:highlight>
              </a:rPr>
              <a:t> . Product Category/Name-Wise Profit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44946A3-3CD7-4E5D-778E-804C81A3D6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7700" y="1068418"/>
            <a:ext cx="755322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Winter Wear – Hoodie (₹14,400), Sweatshirt (₹5,500)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₹19,900 total, hoodie drives seasonal profit.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Ethnic Wear – Kurta Set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₹8,400, strong cultural margin.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Casual/Gym Wear – Round Neck T-Shirt (₹3,330), Polo T-Shirt (₹2,125)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₹5,455 total, round neck leads.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Joggers – Lowers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₹5,250, consistent comfort wear profit.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Handkerchief – Hanky Set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₹5,000, steady essentials.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Gym Wear – Gym Sando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₹3,780, niche fitness traction.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Grand Total Profit: ₹47,785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1FA3746-9127-FC20-C843-8E54B57676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3443685"/>
              </p:ext>
            </p:extLst>
          </p:nvPr>
        </p:nvGraphicFramePr>
        <p:xfrm>
          <a:off x="484710" y="2564296"/>
          <a:ext cx="8520142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30218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3E1B2-7404-8C14-5E10-5B5139A5C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2700" dirty="0">
                <a:solidFill>
                  <a:schemeClr val="tx1"/>
                </a:solidFill>
                <a:highlight>
                  <a:srgbClr val="000080"/>
                </a:highlight>
              </a:rPr>
              <a:t>4.</a:t>
            </a:r>
            <a:r>
              <a:rPr lang="en-IN" sz="2700" dirty="0">
                <a:highlight>
                  <a:srgbClr val="000080"/>
                </a:highlight>
              </a:rPr>
              <a:t>Region-Wise Units Sold</a:t>
            </a:r>
            <a:br>
              <a:rPr lang="en-IN" sz="3600" dirty="0">
                <a:highlight>
                  <a:srgbClr val="000080"/>
                </a:highlight>
              </a:rPr>
            </a:br>
            <a:br>
              <a:rPr lang="en-IN" sz="3600" dirty="0"/>
            </a:br>
            <a:endParaRPr lang="en-IN" sz="36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1CBD3CB-A136-F354-3C89-2AF81F21F0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1896" y="1330027"/>
            <a:ext cx="7338676" cy="1046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West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leads with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141 units sold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showing dominant market traction.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follows with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17 units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moderate engagement.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North (9 units)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East (8 units)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 minimal activity, suggesting untapped potential or low demand.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Grand Total: 175 Units Sold</a:t>
            </a:r>
            <a:r>
              <a:rPr lang="en-US" altLang="en-US" sz="1200" dirty="0"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495AF97-4123-5F9C-C592-0AF4E6E6F9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13775346"/>
              </p:ext>
            </p:extLst>
          </p:nvPr>
        </p:nvGraphicFramePr>
        <p:xfrm>
          <a:off x="730319" y="2559464"/>
          <a:ext cx="4562474" cy="26733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33822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6DAAE-B824-1D17-014C-6C1D30F62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highlight>
                  <a:srgbClr val="000080"/>
                </a:highlight>
              </a:rPr>
              <a:t>Region-Wise Revenue Generated</a:t>
            </a:r>
            <a:br>
              <a:rPr lang="en-US" sz="2400" dirty="0">
                <a:highlight>
                  <a:srgbClr val="000080"/>
                </a:highlight>
              </a:rPr>
            </a:br>
            <a:endParaRPr lang="en-IN" sz="2400" dirty="0">
              <a:highlight>
                <a:srgbClr val="000080"/>
              </a:highlight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42010D5-0CB1-8E43-B1FC-F2AFB381F7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7700" y="1182417"/>
            <a:ext cx="6710491" cy="1046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West dominates with ₹1.52 Cr, contributing over 80% of total revenue.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South follows with ₹16.79L, showing moderate traction.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East (₹10.10L) and North (₹6.96L) reflect lower engagement, indicating growth potential.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Grand Total Revenue: ₹1.86 Cr</a:t>
            </a:r>
            <a:r>
              <a:rPr lang="en-US" altLang="en-US" sz="1200" b="1" dirty="0"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B908C50-0331-4308-C602-E797B23A3B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1059515"/>
              </p:ext>
            </p:extLst>
          </p:nvPr>
        </p:nvGraphicFramePr>
        <p:xfrm>
          <a:off x="1394653" y="2290413"/>
          <a:ext cx="4565649" cy="2860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09688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34772-2E0E-05C1-0CC6-2927AF560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  <a:p>
            <a:r>
              <a:rPr lang="en-US" dirty="0"/>
              <a:t>SAMRAT SAXENA</a:t>
            </a:r>
          </a:p>
          <a:p>
            <a:r>
              <a:rPr lang="en-US" dirty="0"/>
              <a:t>91-9958480788</a:t>
            </a:r>
          </a:p>
          <a:p>
            <a:r>
              <a:rPr lang="en-US">
                <a:hlinkClick r:id="rId2"/>
              </a:rPr>
              <a:t>samrat.saxena@gmail.com</a:t>
            </a:r>
            <a:endParaRPr lang="en-US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80309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282</TotalTime>
  <Words>527</Words>
  <Application>Microsoft Office PowerPoint</Application>
  <PresentationFormat>On-screen Show (4:3)</PresentationFormat>
  <Paragraphs>54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Century Gothic</vt:lpstr>
      <vt:lpstr>Wingdings 3</vt:lpstr>
      <vt:lpstr>Ion</vt:lpstr>
      <vt:lpstr>Amazon  Summary Presentation</vt:lpstr>
      <vt:lpstr>Dashboard Sections</vt:lpstr>
      <vt:lpstr>1. Product Category/ Name-Wise-Units Sold  </vt:lpstr>
      <vt:lpstr>2. Product Category/Name-Wise Revenue Generated </vt:lpstr>
      <vt:lpstr>3 . Product Category/Name-Wise Profit</vt:lpstr>
      <vt:lpstr>4.Region-Wise Units Sold  </vt:lpstr>
      <vt:lpstr>Region-Wise Revenue Generated 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Samrat Saxena</cp:lastModifiedBy>
  <cp:revision>2</cp:revision>
  <dcterms:created xsi:type="dcterms:W3CDTF">2013-01-27T09:14:16Z</dcterms:created>
  <dcterms:modified xsi:type="dcterms:W3CDTF">2026-01-03T09:41:59Z</dcterms:modified>
  <cp:category/>
</cp:coreProperties>
</file>